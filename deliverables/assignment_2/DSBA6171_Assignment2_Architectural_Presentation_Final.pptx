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hRqCcC1eHYa/4St7NAJRA7weu7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118ECC-F53C-4C3C-B7BA-225BA9C586D6}">
  <a:tblStyle styleId="{4A118ECC-F53C-4C3C-B7BA-225BA9C586D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b5de605c5_3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fb5de605c5_3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g3fb5de605c5_3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example shows how a data modeling mistake can change the information that AI receives.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key concept is grain: what one row represents. In the Claims Ledger, one row represents one claim. In Service Lines, one row represents one service within a claim.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Claim CLM-10058 has a billed total of $1,255.72. Its three service amounts are $72.48, $479.78, and $703.46. Together they equal the original claim total.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join the tables by matching claim_id. The result contains three legitimate service rows. Each row now includes the total for the same claim. The join is valid. It does not change the claim's actual total.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error happens in the next step. If we add the claim-total column, we count $1,255.72 three times and get $3,767.16. If we add the service amounts, we get the correct $1,255.72. We also preserve the original claim total as context.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AI receives the inflated number and we ask for a summary, it could report that the total billed amount is $3,767.16. The model can interpret its input reasonably while producing a wrong business summary. A reviewer may then spend time on an unnecessary investigation, potentially delaying processing. This is a possible consequence, not the result of an actual AI run.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architectural control is to keep the original claim total, sum service amounts separately, and compare the two before supplying the context to AI. Flag mismatches for review.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 cells: claims_ledger.csv A59=CLM-10058 and I59=1255.72. Match A59 to claim_line_items.csv B79:B81. Service amounts are F79:F81. Billed amount is already the amount for the entire service line, not a unit price.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Sources: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https://github.com/Freh-dev/dsba6171-healthtech-domain-project/blob/main/data/structured/raw/claims_ledger.csv#L59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https://github.com/Freh-dev/dsba6171-healthtech-domain-project/blob/main/data/structured/raw/claim_line_items.csv#L79-L81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https://github.com/Freh-dev/dsba6171-healthtech-domain-project/blob/main/notebooks/claim_join_grain_demo.ipynb</a:t>
            </a:r>
            <a:endParaRPr/>
          </a:p>
        </p:txBody>
      </p:sp>
      <p:sp>
        <p:nvSpPr>
          <p:cNvPr id="231" name="Google Shape;23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0" name="Google Shape;7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github.com/Freh-dev/dsba6171-healthtech-domain-project/blob/main/data/structured/raw/claims_ledger.csv#L59" TargetMode="External"/><Relationship Id="rId4" Type="http://schemas.openxmlformats.org/officeDocument/2006/relationships/hyperlink" Target="https://github.com/Freh-dev/dsba6171-healthtech-domain-project/blob/main/data/structured/raw/claim_line_items.csv#L79-L81" TargetMode="External"/><Relationship Id="rId5" Type="http://schemas.openxmlformats.org/officeDocument/2006/relationships/hyperlink" Target="https://github.com/Freh-dev/dsba6171-healthtech-domain-project/blob/main/notebooks/claim_join_grain_demo.ipynb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Freh-dev/dsba6171-healthtech-domain-project.g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g3fb5de605c5_3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11650132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9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/>
        </p:nvSpPr>
        <p:spPr>
          <a:xfrm>
            <a:off x="438912" y="31089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SLIDE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438912" y="6583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C343A"/>
                </a:solidFill>
                <a:latin typeface="Georgia"/>
                <a:ea typeface="Georgia"/>
                <a:cs typeface="Georgia"/>
                <a:sym typeface="Georgia"/>
              </a:rPr>
              <a:t>Business Data Microcosm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438912" y="1133856"/>
            <a:ext cx="109728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Six structured datasets across three grains</a:t>
            </a:r>
            <a:endParaRPr b="0" i="1" sz="1300" u="none" cap="none" strike="noStrike">
              <a:solidFill>
                <a:srgbClr val="587C8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457200" y="1664208"/>
            <a:ext cx="1115568" cy="402336"/>
          </a:xfrm>
          <a:prstGeom prst="rect">
            <a:avLst/>
          </a:prstGeom>
          <a:solidFill>
            <a:srgbClr val="008B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21208" y="1737360"/>
            <a:ext cx="1005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lang="en-US" sz="960">
                <a:solidFill>
                  <a:srgbClr val="FFFFFF"/>
                </a:solidFill>
              </a:rPr>
              <a:t>Grain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572768" y="1664208"/>
            <a:ext cx="1737360" cy="402336"/>
          </a:xfrm>
          <a:prstGeom prst="rect">
            <a:avLst/>
          </a:prstGeom>
          <a:solidFill>
            <a:srgbClr val="008B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1636776" y="1737360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3310128" y="1664208"/>
            <a:ext cx="3026664" cy="402336"/>
          </a:xfrm>
          <a:prstGeom prst="rect">
            <a:avLst/>
          </a:prstGeom>
          <a:solidFill>
            <a:srgbClr val="008B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374136" y="1737360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Represents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336792" y="1664208"/>
            <a:ext cx="2148840" cy="402336"/>
          </a:xfrm>
          <a:prstGeom prst="rect">
            <a:avLst/>
          </a:prstGeom>
          <a:solidFill>
            <a:srgbClr val="008B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6400800" y="1737360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Row 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8485632" y="1664208"/>
            <a:ext cx="3246120" cy="402336"/>
          </a:xfrm>
          <a:prstGeom prst="rect">
            <a:avLst/>
          </a:prstGeom>
          <a:solidFill>
            <a:srgbClr val="008B9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8549640" y="1737360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Key Relationships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457200" y="2066544"/>
            <a:ext cx="1115568" cy="402336"/>
          </a:xfrm>
          <a:prstGeom prst="rect">
            <a:avLst/>
          </a:prstGeom>
          <a:solidFill>
            <a:srgbClr val="E2F2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"/>
          <p:cNvSpPr txBox="1"/>
          <p:nvPr/>
        </p:nvSpPr>
        <p:spPr>
          <a:xfrm>
            <a:off x="521208" y="213969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1572768" y="2066544"/>
            <a:ext cx="173736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 txBox="1"/>
          <p:nvPr/>
        </p:nvSpPr>
        <p:spPr>
          <a:xfrm>
            <a:off x="1636776" y="2139696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patient_accounts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3310128" y="2066544"/>
            <a:ext cx="3026664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"/>
          <p:cNvSpPr txBox="1"/>
          <p:nvPr/>
        </p:nvSpPr>
        <p:spPr>
          <a:xfrm>
            <a:off x="3374136" y="2139696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Member enrollment &amp; coverage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"/>
          <p:cNvSpPr/>
          <p:nvPr/>
        </p:nvSpPr>
        <p:spPr>
          <a:xfrm>
            <a:off x="6336792" y="2066544"/>
            <a:ext cx="214884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6400800" y="2139696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member enrollment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8485632" y="2066544"/>
            <a:ext cx="324612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549640" y="2139696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plan_id, primary_provider_id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/>
          <p:nvPr/>
        </p:nvSpPr>
        <p:spPr>
          <a:xfrm>
            <a:off x="457200" y="2468880"/>
            <a:ext cx="1115568" cy="402336"/>
          </a:xfrm>
          <a:prstGeom prst="rect">
            <a:avLst/>
          </a:prstGeom>
          <a:solidFill>
            <a:srgbClr val="E2F2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521208" y="2542032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/>
          <p:nvPr/>
        </p:nvSpPr>
        <p:spPr>
          <a:xfrm>
            <a:off x="1572768" y="2468880"/>
            <a:ext cx="173736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636776" y="2542032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/>
          <p:nvPr/>
        </p:nvSpPr>
        <p:spPr>
          <a:xfrm>
            <a:off x="3310128" y="2468880"/>
            <a:ext cx="3026664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3374136" y="2542032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Provider identity &amp; 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6336792" y="2468880"/>
            <a:ext cx="214884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6400800" y="2542032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provider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8485632" y="2468880"/>
            <a:ext cx="324612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549640" y="2542032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provider_id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457200" y="2871216"/>
            <a:ext cx="1115568" cy="402336"/>
          </a:xfrm>
          <a:prstGeom prst="rect">
            <a:avLst/>
          </a:prstGeom>
          <a:solidFill>
            <a:srgbClr val="E2F2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521208" y="2944368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1572768" y="2871216"/>
            <a:ext cx="173736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1636776" y="2944368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insurance_plans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/>
          <p:nvPr/>
        </p:nvSpPr>
        <p:spPr>
          <a:xfrm>
            <a:off x="3310128" y="2871216"/>
            <a:ext cx="3026664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3374136" y="2944368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Plan design &amp; benefits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/>
          <p:nvPr/>
        </p:nvSpPr>
        <p:spPr>
          <a:xfrm>
            <a:off x="6336792" y="2871216"/>
            <a:ext cx="214884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6400800" y="2944368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8485632" y="2871216"/>
            <a:ext cx="324612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8549640" y="2944368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plan_id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457200" y="3273552"/>
            <a:ext cx="1115568" cy="402336"/>
          </a:xfrm>
          <a:prstGeom prst="rect">
            <a:avLst/>
          </a:prstGeom>
          <a:solidFill>
            <a:srgbClr val="E2F2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521208" y="3346704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/>
          <p:nvPr/>
        </p:nvSpPr>
        <p:spPr>
          <a:xfrm>
            <a:off x="1572768" y="3273552"/>
            <a:ext cx="173736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636776" y="3346704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procedure_catalog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3310128" y="3273552"/>
            <a:ext cx="3026664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3374136" y="3346704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Procedure reference &amp; policy pointer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/>
          <p:nvPr/>
        </p:nvSpPr>
        <p:spPr>
          <a:xfrm>
            <a:off x="6336792" y="3273552"/>
            <a:ext cx="214884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6400800" y="3346704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procedure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"/>
          <p:cNvSpPr/>
          <p:nvPr/>
        </p:nvSpPr>
        <p:spPr>
          <a:xfrm>
            <a:off x="8485632" y="3273552"/>
            <a:ext cx="324612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8549640" y="3346704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procedure_code, coverage_policy_id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457200" y="3675888"/>
            <a:ext cx="1115568" cy="402336"/>
          </a:xfrm>
          <a:prstGeom prst="rect">
            <a:avLst/>
          </a:prstGeom>
          <a:solidFill>
            <a:srgbClr val="E2F2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521208" y="3749040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Txn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/>
          <p:nvPr/>
        </p:nvSpPr>
        <p:spPr>
          <a:xfrm>
            <a:off x="1572768" y="3675888"/>
            <a:ext cx="173736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"/>
          <p:cNvSpPr txBox="1"/>
          <p:nvPr/>
        </p:nvSpPr>
        <p:spPr>
          <a:xfrm>
            <a:off x="1636776" y="3749040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claims_ledger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"/>
          <p:cNvSpPr/>
          <p:nvPr/>
        </p:nvSpPr>
        <p:spPr>
          <a:xfrm>
            <a:off x="3310128" y="3675888"/>
            <a:ext cx="3026664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3374136" y="3749040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Submitted claim header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"/>
          <p:cNvSpPr/>
          <p:nvPr/>
        </p:nvSpPr>
        <p:spPr>
          <a:xfrm>
            <a:off x="6336792" y="3675888"/>
            <a:ext cx="214884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6400800" y="3749040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claim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"/>
          <p:cNvSpPr/>
          <p:nvPr/>
        </p:nvSpPr>
        <p:spPr>
          <a:xfrm>
            <a:off x="8485632" y="3675888"/>
            <a:ext cx="324612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"/>
          <p:cNvSpPr txBox="1"/>
          <p:nvPr/>
        </p:nvSpPr>
        <p:spPr>
          <a:xfrm>
            <a:off x="8549640" y="3749040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claim_id, member_id, provider_id, plan_id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"/>
          <p:cNvSpPr/>
          <p:nvPr/>
        </p:nvSpPr>
        <p:spPr>
          <a:xfrm>
            <a:off x="457200" y="4078224"/>
            <a:ext cx="1115568" cy="402336"/>
          </a:xfrm>
          <a:prstGeom prst="rect">
            <a:avLst/>
          </a:prstGeom>
          <a:solidFill>
            <a:srgbClr val="E2F2EF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"/>
          <p:cNvSpPr txBox="1"/>
          <p:nvPr/>
        </p:nvSpPr>
        <p:spPr>
          <a:xfrm>
            <a:off x="521208" y="4151376"/>
            <a:ext cx="1005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Txn detail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"/>
          <p:cNvSpPr/>
          <p:nvPr/>
        </p:nvSpPr>
        <p:spPr>
          <a:xfrm>
            <a:off x="1572768" y="4078224"/>
            <a:ext cx="173736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1636776" y="4151376"/>
            <a:ext cx="162763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claim_line_items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/>
          <p:nvPr/>
        </p:nvSpPr>
        <p:spPr>
          <a:xfrm>
            <a:off x="3310128" y="4078224"/>
            <a:ext cx="3026664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"/>
          <p:cNvSpPr txBox="1"/>
          <p:nvPr/>
        </p:nvSpPr>
        <p:spPr>
          <a:xfrm>
            <a:off x="3374136" y="4151376"/>
            <a:ext cx="291693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Service line within a claim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"/>
          <p:cNvSpPr/>
          <p:nvPr/>
        </p:nvSpPr>
        <p:spPr>
          <a:xfrm>
            <a:off x="6336792" y="4078224"/>
            <a:ext cx="214884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"/>
          <p:cNvSpPr txBox="1"/>
          <p:nvPr/>
        </p:nvSpPr>
        <p:spPr>
          <a:xfrm>
            <a:off x="6400800" y="4151376"/>
            <a:ext cx="2039112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service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"/>
          <p:cNvSpPr/>
          <p:nvPr/>
        </p:nvSpPr>
        <p:spPr>
          <a:xfrm>
            <a:off x="8485632" y="4078224"/>
            <a:ext cx="3246120" cy="402336"/>
          </a:xfrm>
          <a:prstGeom prst="rect">
            <a:avLst/>
          </a:prstGeom>
          <a:solidFill>
            <a:srgbClr val="F6FAF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"/>
          <p:cNvSpPr txBox="1"/>
          <p:nvPr/>
        </p:nvSpPr>
        <p:spPr>
          <a:xfrm>
            <a:off x="8549640" y="4151376"/>
            <a:ext cx="3136391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claim_line_id, claim_id, procedure_code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"/>
          <p:cNvSpPr txBox="1"/>
          <p:nvPr/>
        </p:nvSpPr>
        <p:spPr>
          <a:xfrm>
            <a:off x="457200" y="4503419"/>
            <a:ext cx="18288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Relationship Spine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"/>
          <p:cNvSpPr/>
          <p:nvPr/>
        </p:nvSpPr>
        <p:spPr>
          <a:xfrm>
            <a:off x="457200" y="4800590"/>
            <a:ext cx="5000000" cy="120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"/>
          <p:cNvSpPr txBox="1"/>
          <p:nvPr/>
        </p:nvSpPr>
        <p:spPr>
          <a:xfrm>
            <a:off x="731520" y="4818888"/>
            <a:ext cx="4451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member</a:t>
            </a:r>
            <a:r>
              <a:rPr b="0" i="0" lang="en-US" sz="12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   →   </a:t>
            </a: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"/>
          <p:cNvSpPr txBox="1"/>
          <p:nvPr/>
        </p:nvSpPr>
        <p:spPr>
          <a:xfrm>
            <a:off x="731520" y="5047488"/>
            <a:ext cx="4451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claim</a:t>
            </a:r>
            <a:r>
              <a:rPr b="0" i="0" lang="en-US" sz="12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   →   </a:t>
            </a: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member + provider +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"/>
          <p:cNvSpPr txBox="1"/>
          <p:nvPr/>
        </p:nvSpPr>
        <p:spPr>
          <a:xfrm>
            <a:off x="731520" y="5276088"/>
            <a:ext cx="4451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claim</a:t>
            </a:r>
            <a:r>
              <a:rPr b="0" i="0" lang="en-US" sz="12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   →   </a:t>
            </a: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many service lines  →  procedure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"/>
          <p:cNvSpPr txBox="1"/>
          <p:nvPr/>
        </p:nvSpPr>
        <p:spPr>
          <a:xfrm>
            <a:off x="731520" y="5504688"/>
            <a:ext cx="4451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procedure</a:t>
            </a:r>
            <a:r>
              <a:rPr b="0" i="0" lang="en-US" sz="12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   →   </a:t>
            </a:r>
            <a:r>
              <a:rPr b="0" i="0" lang="en-US" sz="125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policy document 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"/>
          <p:cNvSpPr txBox="1"/>
          <p:nvPr/>
        </p:nvSpPr>
        <p:spPr>
          <a:xfrm>
            <a:off x="448056" y="6473952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1" lang="en-US" sz="78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Evidence to 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"/>
          <p:cNvSpPr txBox="1"/>
          <p:nvPr/>
        </p:nvSpPr>
        <p:spPr>
          <a:xfrm>
            <a:off x="1572775" y="6493402"/>
            <a:ext cx="91989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data/structured/raw/ • structured_data_dictionary.csv • architecture/domain_microcosm_erd.png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"/>
          <p:cNvSpPr txBox="1"/>
          <p:nvPr/>
        </p:nvSpPr>
        <p:spPr>
          <a:xfrm>
            <a:off x="11201400" y="647395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02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5707200" y="4503419"/>
            <a:ext cx="18288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Why Grain Matters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5707200" y="4800590"/>
            <a:ext cx="5997000" cy="1206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"/>
          <p:cNvSpPr txBox="1"/>
          <p:nvPr/>
        </p:nvSpPr>
        <p:spPr>
          <a:xfrm>
            <a:off x="5981520" y="5033000"/>
            <a:ext cx="5448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claims_ledger</a:t>
            </a:r>
            <a:r>
              <a:rPr b="0" i="0" lang="en-US" sz="125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   →   </a:t>
            </a:r>
            <a:r>
              <a:rPr b="0" i="0" lang="en-US" sz="12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row = one claim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"/>
          <p:cNvSpPr txBox="1"/>
          <p:nvPr/>
        </p:nvSpPr>
        <p:spPr>
          <a:xfrm>
            <a:off x="5981520" y="5308000"/>
            <a:ext cx="5448360" cy="192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claim_line_items</a:t>
            </a:r>
            <a:r>
              <a:rPr b="0" i="0" lang="en-US" sz="125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   →   </a:t>
            </a:r>
            <a:r>
              <a:rPr b="0" i="0" lang="en-US" sz="125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row = one service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"/>
          <p:cNvSpPr txBox="1"/>
          <p:nvPr/>
        </p:nvSpPr>
        <p:spPr>
          <a:xfrm>
            <a:off x="5981520" y="5583000"/>
            <a:ext cx="5448300" cy="3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50">
                <a:solidFill>
                  <a:srgbClr val="008B99"/>
                </a:solidFill>
              </a:rPr>
              <a:t>⚠ </a:t>
            </a:r>
            <a:r>
              <a:rPr b="1" lang="en-US" sz="1050">
                <a:solidFill>
                  <a:srgbClr val="0C343A"/>
                </a:solidFill>
              </a:rPr>
              <a:t>If joined without declaring grain → claim total repeats for every service line.</a:t>
            </a:r>
            <a:endParaRPr b="1" sz="1050">
              <a:solidFill>
                <a:srgbClr val="0C343A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rgbClr val="9C2B1B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9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"/>
          <p:cNvSpPr txBox="1"/>
          <p:nvPr/>
        </p:nvSpPr>
        <p:spPr>
          <a:xfrm>
            <a:off x="438912" y="31089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SLIDE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"/>
          <p:cNvSpPr txBox="1"/>
          <p:nvPr/>
        </p:nvSpPr>
        <p:spPr>
          <a:xfrm>
            <a:off x="438912" y="6583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C343A"/>
                </a:solidFill>
                <a:latin typeface="Georgia"/>
                <a:ea typeface="Georgia"/>
                <a:cs typeface="Georgia"/>
                <a:sym typeface="Georgia"/>
              </a:rPr>
              <a:t>Architecture: Sources → AI Consumer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"/>
          <p:cNvSpPr txBox="1"/>
          <p:nvPr/>
        </p:nvSpPr>
        <p:spPr>
          <a:xfrm>
            <a:off x="438912" y="1133856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Two streams converge before decisioning — structured and knowledge paths remain traceable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"/>
          <p:cNvSpPr txBox="1"/>
          <p:nvPr/>
        </p:nvSpPr>
        <p:spPr>
          <a:xfrm>
            <a:off x="2331720" y="14904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STRUCTURED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"/>
          <p:cNvSpPr txBox="1"/>
          <p:nvPr/>
        </p:nvSpPr>
        <p:spPr>
          <a:xfrm>
            <a:off x="8229600" y="149047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KNOWLEDGE PATH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"/>
          <p:cNvSpPr/>
          <p:nvPr/>
        </p:nvSpPr>
        <p:spPr>
          <a:xfrm>
            <a:off x="457200" y="1773936"/>
            <a:ext cx="5349240" cy="502920"/>
          </a:xfrm>
          <a:prstGeom prst="roundRect">
            <a:avLst>
              <a:gd fmla="val 16667" name="adj"/>
            </a:avLst>
          </a:prstGeom>
          <a:solidFill>
            <a:srgbClr val="008B99"/>
          </a:solidFill>
          <a:ln cap="flat" cmpd="sng" w="12700">
            <a:solidFill>
              <a:srgbClr val="008B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"/>
          <p:cNvSpPr txBox="1"/>
          <p:nvPr/>
        </p:nvSpPr>
        <p:spPr>
          <a:xfrm>
            <a:off x="457200" y="1865376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Claims Feeds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"/>
          <p:cNvSpPr txBox="1"/>
          <p:nvPr/>
        </p:nvSpPr>
        <p:spPr>
          <a:xfrm>
            <a:off x="457200" y="2057400"/>
            <a:ext cx="5349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CSV 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3"/>
          <p:cNvCxnSpPr/>
          <p:nvPr/>
        </p:nvCxnSpPr>
        <p:spPr>
          <a:xfrm>
            <a:off x="3131820" y="227685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5" name="Google Shape;195;p3"/>
          <p:cNvSpPr/>
          <p:nvPr/>
        </p:nvSpPr>
        <p:spPr>
          <a:xfrm>
            <a:off x="457200" y="2404872"/>
            <a:ext cx="5349240" cy="502920"/>
          </a:xfrm>
          <a:prstGeom prst="roundRect">
            <a:avLst>
              <a:gd fmla="val 16667" name="adj"/>
            </a:avLst>
          </a:prstGeom>
          <a:solidFill>
            <a:srgbClr val="008B99"/>
          </a:solidFill>
          <a:ln cap="flat" cmpd="sng" w="12700">
            <a:solidFill>
              <a:srgbClr val="008B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"/>
          <p:cNvSpPr txBox="1"/>
          <p:nvPr/>
        </p:nvSpPr>
        <p:spPr>
          <a:xfrm>
            <a:off x="457200" y="2496312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"/>
          <p:cNvSpPr txBox="1"/>
          <p:nvPr/>
        </p:nvSpPr>
        <p:spPr>
          <a:xfrm>
            <a:off x="457200" y="2688336"/>
            <a:ext cx="5349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Parse, schema check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p3"/>
          <p:cNvCxnSpPr/>
          <p:nvPr/>
        </p:nvCxnSpPr>
        <p:spPr>
          <a:xfrm>
            <a:off x="3131820" y="2907791"/>
            <a:ext cx="0" cy="128017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199" name="Google Shape;199;p3"/>
          <p:cNvSpPr/>
          <p:nvPr/>
        </p:nvSpPr>
        <p:spPr>
          <a:xfrm>
            <a:off x="457200" y="3035808"/>
            <a:ext cx="5349240" cy="502920"/>
          </a:xfrm>
          <a:prstGeom prst="roundRect">
            <a:avLst>
              <a:gd fmla="val 16667" name="adj"/>
            </a:avLst>
          </a:prstGeom>
          <a:solidFill>
            <a:srgbClr val="008B99"/>
          </a:solidFill>
          <a:ln cap="flat" cmpd="sng" w="12700">
            <a:solidFill>
              <a:srgbClr val="008B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3"/>
          <p:cNvSpPr txBox="1"/>
          <p:nvPr/>
        </p:nvSpPr>
        <p:spPr>
          <a:xfrm>
            <a:off x="457200" y="3127248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Raw Storage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"/>
          <p:cNvSpPr txBox="1"/>
          <p:nvPr/>
        </p:nvSpPr>
        <p:spPr>
          <a:xfrm>
            <a:off x="457200" y="3319272"/>
            <a:ext cx="5349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Immutable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"/>
          <p:cNvSpPr/>
          <p:nvPr/>
        </p:nvSpPr>
        <p:spPr>
          <a:xfrm>
            <a:off x="6419088" y="1773936"/>
            <a:ext cx="5349240" cy="502920"/>
          </a:xfrm>
          <a:prstGeom prst="roundRect">
            <a:avLst>
              <a:gd fmla="val 16667" name="adj"/>
            </a:avLst>
          </a:prstGeom>
          <a:solidFill>
            <a:srgbClr val="00B5A4"/>
          </a:solidFill>
          <a:ln cap="flat" cmpd="sng" w="12700">
            <a:solidFill>
              <a:srgbClr val="00B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6419088" y="1865376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Policy Documents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"/>
          <p:cNvSpPr txBox="1"/>
          <p:nvPr/>
        </p:nvSpPr>
        <p:spPr>
          <a:xfrm>
            <a:off x="6419088" y="2057400"/>
            <a:ext cx="5349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PDF, Markdown, TXT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3"/>
          <p:cNvCxnSpPr/>
          <p:nvPr/>
        </p:nvCxnSpPr>
        <p:spPr>
          <a:xfrm>
            <a:off x="9093708" y="2276856"/>
            <a:ext cx="0" cy="128016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06" name="Google Shape;206;p3"/>
          <p:cNvSpPr/>
          <p:nvPr/>
        </p:nvSpPr>
        <p:spPr>
          <a:xfrm>
            <a:off x="6419088" y="2404872"/>
            <a:ext cx="5349240" cy="502920"/>
          </a:xfrm>
          <a:prstGeom prst="roundRect">
            <a:avLst>
              <a:gd fmla="val 16667" name="adj"/>
            </a:avLst>
          </a:prstGeom>
          <a:solidFill>
            <a:srgbClr val="00B5A4"/>
          </a:solidFill>
          <a:ln cap="flat" cmpd="sng" w="12700">
            <a:solidFill>
              <a:srgbClr val="00B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"/>
          <p:cNvSpPr txBox="1"/>
          <p:nvPr/>
        </p:nvSpPr>
        <p:spPr>
          <a:xfrm>
            <a:off x="6419088" y="2496312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Document Ingestion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3"/>
          <p:cNvSpPr txBox="1"/>
          <p:nvPr/>
        </p:nvSpPr>
        <p:spPr>
          <a:xfrm>
            <a:off x="6419088" y="2688336"/>
            <a:ext cx="5349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Extract, metadata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9" name="Google Shape;209;p3"/>
          <p:cNvCxnSpPr/>
          <p:nvPr/>
        </p:nvCxnSpPr>
        <p:spPr>
          <a:xfrm>
            <a:off x="9093708" y="2907791"/>
            <a:ext cx="0" cy="128017"/>
          </a:xfrm>
          <a:prstGeom prst="straightConnector1">
            <a:avLst/>
          </a:prstGeom>
          <a:noFill/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0" name="Google Shape;210;p3"/>
          <p:cNvSpPr/>
          <p:nvPr/>
        </p:nvSpPr>
        <p:spPr>
          <a:xfrm>
            <a:off x="6419088" y="3035808"/>
            <a:ext cx="5349240" cy="502920"/>
          </a:xfrm>
          <a:prstGeom prst="roundRect">
            <a:avLst>
              <a:gd fmla="val 16667" name="adj"/>
            </a:avLst>
          </a:prstGeom>
          <a:solidFill>
            <a:srgbClr val="00B5A4"/>
          </a:solidFill>
          <a:ln cap="flat" cmpd="sng" w="12700">
            <a:solidFill>
              <a:srgbClr val="00B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"/>
          <p:cNvSpPr txBox="1"/>
          <p:nvPr/>
        </p:nvSpPr>
        <p:spPr>
          <a:xfrm>
            <a:off x="6419088" y="3127248"/>
            <a:ext cx="5349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Knowledge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3"/>
          <p:cNvSpPr txBox="1"/>
          <p:nvPr/>
        </p:nvSpPr>
        <p:spPr>
          <a:xfrm>
            <a:off x="6419088" y="3319272"/>
            <a:ext cx="5349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"/>
              <a:buFont typeface="Arial"/>
              <a:buNone/>
            </a:pPr>
            <a:r>
              <a:rPr b="0" i="0" lang="en-US" sz="8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Source + versioned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3"/>
          <p:cNvSpPr/>
          <p:nvPr/>
        </p:nvSpPr>
        <p:spPr>
          <a:xfrm>
            <a:off x="457200" y="3813048"/>
            <a:ext cx="11320272" cy="530352"/>
          </a:xfrm>
          <a:prstGeom prst="roundRect">
            <a:avLst>
              <a:gd fmla="val 16667" name="adj"/>
            </a:avLst>
          </a:prstGeom>
          <a:solidFill>
            <a:srgbClr val="00B5A4"/>
          </a:solidFill>
          <a:ln cap="flat" cmpd="sng" w="12700">
            <a:solidFill>
              <a:srgbClr val="00B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"/>
          <p:cNvSpPr txBox="1"/>
          <p:nvPr/>
        </p:nvSpPr>
        <p:spPr>
          <a:xfrm>
            <a:off x="457200" y="3913632"/>
            <a:ext cx="11320272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TRANSFORMATION  —  Join at declared grain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"/>
          <p:cNvSpPr txBox="1"/>
          <p:nvPr/>
        </p:nvSpPr>
        <p:spPr>
          <a:xfrm>
            <a:off x="457200" y="4123944"/>
            <a:ext cx="113202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8"/>
              <a:buFont typeface="Arial"/>
              <a:buNone/>
            </a:pPr>
            <a:r>
              <a:rPr b="0" i="0" lang="en-US" sz="86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Point-in-time + jurisdiction filters applied before decisioning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3"/>
          <p:cNvCxnSpPr/>
          <p:nvPr/>
        </p:nvCxnSpPr>
        <p:spPr>
          <a:xfrm>
            <a:off x="3108960" y="3611880"/>
            <a:ext cx="0" cy="201168"/>
          </a:xfrm>
          <a:prstGeom prst="straightConnector1">
            <a:avLst/>
          </a:prstGeom>
          <a:noFill/>
          <a:ln cap="flat" cmpd="sng" w="16500">
            <a:solidFill>
              <a:srgbClr val="008B9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17" name="Google Shape;217;p3"/>
          <p:cNvCxnSpPr/>
          <p:nvPr/>
        </p:nvCxnSpPr>
        <p:spPr>
          <a:xfrm>
            <a:off x="9098280" y="3611880"/>
            <a:ext cx="0" cy="201168"/>
          </a:xfrm>
          <a:prstGeom prst="straightConnector1">
            <a:avLst/>
          </a:prstGeom>
          <a:noFill/>
          <a:ln cap="flat" cmpd="sng" w="16500">
            <a:solidFill>
              <a:srgbClr val="00B5A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18" name="Google Shape;218;p3"/>
          <p:cNvSpPr/>
          <p:nvPr/>
        </p:nvSpPr>
        <p:spPr>
          <a:xfrm>
            <a:off x="3108960" y="4517136"/>
            <a:ext cx="5989320" cy="585216"/>
          </a:xfrm>
          <a:prstGeom prst="roundRect">
            <a:avLst>
              <a:gd fmla="val 16667" name="adj"/>
            </a:avLst>
          </a:prstGeom>
          <a:solidFill>
            <a:srgbClr val="0C343A"/>
          </a:solidFill>
          <a:ln cap="flat" cmpd="sng" w="12700">
            <a:solidFill>
              <a:srgbClr val="0C34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"/>
          <p:cNvSpPr txBox="1"/>
          <p:nvPr/>
        </p:nvSpPr>
        <p:spPr>
          <a:xfrm>
            <a:off x="3108960" y="4645152"/>
            <a:ext cx="5989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AI-READY DECISION RECORD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"/>
          <p:cNvSpPr txBox="1"/>
          <p:nvPr/>
        </p:nvSpPr>
        <p:spPr>
          <a:xfrm>
            <a:off x="3108960" y="4882896"/>
            <a:ext cx="5989320" cy="1554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0" lang="en-US" sz="8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Features + policy IDs + quality flags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p3"/>
          <p:cNvCxnSpPr/>
          <p:nvPr/>
        </p:nvCxnSpPr>
        <p:spPr>
          <a:xfrm>
            <a:off x="6099048" y="5102352"/>
            <a:ext cx="0" cy="219456"/>
          </a:xfrm>
          <a:prstGeom prst="straightConnector1">
            <a:avLst/>
          </a:prstGeom>
          <a:noFill/>
          <a:ln cap="flat" cmpd="sng" w="17775">
            <a:solidFill>
              <a:srgbClr val="0C34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22" name="Google Shape;222;p3"/>
          <p:cNvSpPr/>
          <p:nvPr/>
        </p:nvSpPr>
        <p:spPr>
          <a:xfrm>
            <a:off x="3108960" y="5321808"/>
            <a:ext cx="5989320" cy="594360"/>
          </a:xfrm>
          <a:prstGeom prst="roundRect">
            <a:avLst>
              <a:gd fmla="val 16667" name="adj"/>
            </a:avLst>
          </a:prstGeom>
          <a:solidFill>
            <a:srgbClr val="0C343A"/>
          </a:solidFill>
          <a:ln cap="flat" cmpd="sng" w="12700">
            <a:solidFill>
              <a:srgbClr val="0C34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"/>
          <p:cNvSpPr txBox="1"/>
          <p:nvPr/>
        </p:nvSpPr>
        <p:spPr>
          <a:xfrm>
            <a:off x="3108960" y="5468112"/>
            <a:ext cx="5989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-US" sz="126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CONSUMER  ·  Claims / Clinical Reviewer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"/>
          <p:cNvSpPr txBox="1"/>
          <p:nvPr/>
        </p:nvSpPr>
        <p:spPr>
          <a:xfrm>
            <a:off x="3108960" y="5705856"/>
            <a:ext cx="598932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30"/>
              <a:buFont typeface="Arial"/>
              <a:buNone/>
            </a:pPr>
            <a:r>
              <a:rPr b="0" i="1" lang="en-US" sz="93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Approve  ·  Deny  ·  Escalate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"/>
          <p:cNvSpPr txBox="1"/>
          <p:nvPr/>
        </p:nvSpPr>
        <p:spPr>
          <a:xfrm>
            <a:off x="448056" y="6473952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1" lang="en-US" sz="78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Evidence to 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"/>
          <p:cNvSpPr txBox="1"/>
          <p:nvPr/>
        </p:nvSpPr>
        <p:spPr>
          <a:xfrm>
            <a:off x="1362486" y="6496248"/>
            <a:ext cx="95097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domain_microcosm_erd.png • raw CSV directory • document_metadata.csv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"/>
          <p:cNvSpPr txBox="1"/>
          <p:nvPr/>
        </p:nvSpPr>
        <p:spPr>
          <a:xfrm>
            <a:off x="11201400" y="647395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03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"/>
          <p:cNvSpPr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SLIDE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457200" y="566928"/>
            <a:ext cx="11277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2E33"/>
              </a:buClr>
              <a:buSzPts val="2700"/>
              <a:buFont typeface="Cambria"/>
              <a:buNone/>
            </a:pPr>
            <a:r>
              <a:rPr b="1" i="0" lang="en-US" sz="2700" u="none" cap="none" strike="noStrike">
                <a:solidFill>
                  <a:srgbClr val="0B2E33"/>
                </a:solidFill>
                <a:latin typeface="Cambria"/>
                <a:ea typeface="Cambria"/>
                <a:cs typeface="Cambria"/>
                <a:sym typeface="Cambria"/>
              </a:rPr>
              <a:t>How Architecture Can Affect AI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57200" y="1078992"/>
            <a:ext cx="1127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One-to-many join duplication: claim CLM-10058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457200" y="5038724"/>
            <a:ext cx="11277600" cy="1118885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7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A7D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04 / 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457200" y="1514475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sng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Claims Ledger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457200" y="1790700"/>
            <a:ext cx="3286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One row = one claim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0" name="Google Shape;240;p4"/>
          <p:cNvGraphicFramePr/>
          <p:nvPr/>
        </p:nvGraphicFramePr>
        <p:xfrm>
          <a:off x="457200" y="2090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{4A118ECC-F53C-4C3C-B7BA-225BA9C586D6}</a:tableStyleId>
              </a:tblPr>
              <a:tblGrid>
                <a:gridCol w="1695450"/>
                <a:gridCol w="1657350"/>
              </a:tblGrid>
              <a:tr h="32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 ID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 total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CLM-10058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$1,255.72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4"/>
          <p:cNvSpPr/>
          <p:nvPr/>
        </p:nvSpPr>
        <p:spPr>
          <a:xfrm>
            <a:off x="457200" y="2990850"/>
            <a:ext cx="32861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sng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Service 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457200" y="3276600"/>
            <a:ext cx="3371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One row = one service in CLM-10058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3" name="Google Shape;243;p4"/>
          <p:cNvGraphicFramePr/>
          <p:nvPr/>
        </p:nvGraphicFramePr>
        <p:xfrm>
          <a:off x="457200" y="358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{4A118ECC-F53C-4C3C-B7BA-225BA9C586D6}</a:tableStyleId>
              </a:tblPr>
              <a:tblGrid>
                <a:gridCol w="1695450"/>
                <a:gridCol w="165735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line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amount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$72.48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$479.78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</a:tr>
              <a:tr h="29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$703.46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244" name="Google Shape;244;p4"/>
          <p:cNvSpPr/>
          <p:nvPr/>
        </p:nvSpPr>
        <p:spPr>
          <a:xfrm>
            <a:off x="4495800" y="1514475"/>
            <a:ext cx="723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JOIN on </a:t>
            </a:r>
            <a:r>
              <a:rPr b="1" i="1" lang="en-US" sz="16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claim_id</a:t>
            </a:r>
            <a:endParaRPr b="1" i="1" sz="1600" u="none" cap="none" strike="noStrike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4495800" y="1790700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One row = one service. The same claim total repeats.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"/>
          <p:cNvSpPr/>
          <p:nvPr/>
        </p:nvSpPr>
        <p:spPr>
          <a:xfrm>
            <a:off x="3905250" y="3067050"/>
            <a:ext cx="428625" cy="266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C7A7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7" name="Google Shape;247;p4"/>
          <p:cNvGraphicFramePr/>
          <p:nvPr/>
        </p:nvGraphicFramePr>
        <p:xfrm>
          <a:off x="4495800" y="2085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{4A118ECC-F53C-4C3C-B7BA-225BA9C586D6}</a:tableStyleId>
              </a:tblPr>
              <a:tblGrid>
                <a:gridCol w="1600200"/>
                <a:gridCol w="971550"/>
                <a:gridCol w="2324100"/>
                <a:gridCol w="2343150"/>
              </a:tblGrid>
              <a:tr h="4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 ID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 amount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Claim total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B443E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CLM-10058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$72.48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AB44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$1,255.72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1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CLM-10058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$479.78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AB44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$1,255.72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1EF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CLM-10058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>
                          <a:solidFill>
                            <a:srgbClr val="0B2E3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$703.46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b="0" lang="en-US" sz="1500" u="none" cap="none" strike="noStrike">
                          <a:solidFill>
                            <a:srgbClr val="AB44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$1,255.72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1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00"/>
                        <a:buFont typeface="Arial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5C7A7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Column sum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02809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$1,255.72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4F5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b="1" lang="en-US" sz="2100" u="none" cap="none" strike="noStrike">
                          <a:solidFill>
                            <a:srgbClr val="AB443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$3,767.16</a:t>
                      </a:r>
                      <a:endParaRPr sz="1400" u="none" cap="none" strike="noStrike"/>
                    </a:p>
                  </a:txBody>
                  <a:tcPr marT="38100" marB="38100" marR="95250" marL="95250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CF1EF"/>
                    </a:solidFill>
                  </a:tcPr>
                </a:tc>
              </a:tr>
            </a:tbl>
          </a:graphicData>
        </a:graphic>
      </p:graphicFrame>
      <p:sp>
        <p:nvSpPr>
          <p:cNvPr id="248" name="Google Shape;248;p4"/>
          <p:cNvSpPr/>
          <p:nvPr/>
        </p:nvSpPr>
        <p:spPr>
          <a:xfrm>
            <a:off x="7067550" y="4267200"/>
            <a:ext cx="23241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Correct: add line amounts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"/>
          <p:cNvSpPr/>
          <p:nvPr/>
        </p:nvSpPr>
        <p:spPr>
          <a:xfrm>
            <a:off x="9486900" y="4267200"/>
            <a:ext cx="22479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B443E"/>
                </a:solidFill>
                <a:latin typeface="Calibri"/>
                <a:ea typeface="Calibri"/>
                <a:cs typeface="Calibri"/>
                <a:sym typeface="Calibri"/>
              </a:rPr>
              <a:t>Incorrect: add claim totals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4"/>
          <p:cNvSpPr/>
          <p:nvPr/>
        </p:nvSpPr>
        <p:spPr>
          <a:xfrm>
            <a:off x="7067550" y="4581525"/>
            <a:ext cx="2324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Matches the original claim total.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"/>
          <p:cNvSpPr/>
          <p:nvPr/>
        </p:nvSpPr>
        <p:spPr>
          <a:xfrm>
            <a:off x="9486900" y="4581525"/>
            <a:ext cx="2247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Counts $1,255.72 three times.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4"/>
          <p:cNvSpPr/>
          <p:nvPr/>
        </p:nvSpPr>
        <p:spPr>
          <a:xfrm>
            <a:off x="647700" y="5143500"/>
            <a:ext cx="4095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Possible AI summary:</a:t>
            </a:r>
            <a:endParaRPr b="1" i="0" sz="1400" u="none" cap="none" strike="noStrike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4"/>
          <p:cNvSpPr/>
          <p:nvPr/>
        </p:nvSpPr>
        <p:spPr>
          <a:xfrm>
            <a:off x="647700" y="5429250"/>
            <a:ext cx="4324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“Total billed: $3,767.16.”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"/>
          <p:cNvSpPr/>
          <p:nvPr/>
        </p:nvSpPr>
        <p:spPr>
          <a:xfrm>
            <a:off x="6286500" y="5143500"/>
            <a:ext cx="5219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</a:rPr>
              <a:t>Business consequence:</a:t>
            </a:r>
            <a:endParaRPr b="1" i="0" sz="1400" u="none" cap="none" strike="noStrike">
              <a:solidFill>
                <a:srgbClr val="02809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4"/>
          <p:cNvSpPr/>
          <p:nvPr/>
        </p:nvSpPr>
        <p:spPr>
          <a:xfrm>
            <a:off x="6286500" y="5410200"/>
            <a:ext cx="5219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The wrong total can waste reviewers’ time and delay claim processing.</a:t>
            </a:r>
            <a:endParaRPr b="0" i="0" sz="1200" u="none" cap="none" strike="noStrike">
              <a:solidFill>
                <a:srgbClr val="0B2E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4"/>
          <p:cNvSpPr/>
          <p:nvPr/>
        </p:nvSpPr>
        <p:spPr>
          <a:xfrm>
            <a:off x="647700" y="5791200"/>
            <a:ext cx="56388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sng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b="0" i="1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Keep the claim total. Compare it with the service-line sum before AI.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"/>
          <p:cNvSpPr/>
          <p:nvPr/>
        </p:nvSpPr>
        <p:spPr>
          <a:xfrm>
            <a:off x="5198724" y="6294181"/>
            <a:ext cx="1794551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sng" cap="none" strike="noStrike">
                <a:solidFill>
                  <a:srgbClr val="028090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Jupyter Notebook: full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"/>
          <p:cNvSpPr/>
          <p:nvPr/>
        </p:nvSpPr>
        <p:spPr>
          <a:xfrm>
            <a:off x="6286500" y="5789458"/>
            <a:ext cx="5534127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The model can follow</a:t>
            </a:r>
            <a:r>
              <a:rPr b="0" i="0" lang="en-US" sz="1050" u="none" cap="none" strike="noStrike">
                <a:solidFill>
                  <a:srgbClr val="5C7A7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200" u="none" cap="none" strike="noStrike">
                <a:solidFill>
                  <a:srgbClr val="0B2E33"/>
                </a:solidFill>
                <a:latin typeface="Calibri"/>
                <a:ea typeface="Calibri"/>
                <a:cs typeface="Calibri"/>
                <a:sym typeface="Calibri"/>
              </a:rPr>
              <a:t>its input and still report the wrong amount.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9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5"/>
          <p:cNvSpPr txBox="1"/>
          <p:nvPr/>
        </p:nvSpPr>
        <p:spPr>
          <a:xfrm>
            <a:off x="438912" y="31089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SLIDE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"/>
          <p:cNvSpPr txBox="1"/>
          <p:nvPr/>
        </p:nvSpPr>
        <p:spPr>
          <a:xfrm>
            <a:off x="438912" y="658368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C343A"/>
                </a:solidFill>
                <a:latin typeface="Georgia"/>
                <a:ea typeface="Georgia"/>
                <a:cs typeface="Georgia"/>
                <a:sym typeface="Georgia"/>
              </a:rPr>
              <a:t>Meaning, Context &amp; Trust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5"/>
          <p:cNvSpPr txBox="1"/>
          <p:nvPr/>
        </p:nvSpPr>
        <p:spPr>
          <a:xfrm>
            <a:off x="438912" y="1133856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Section 3 — schema, semantic contract, semantic failure, quality controls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5"/>
          <p:cNvSpPr/>
          <p:nvPr/>
        </p:nvSpPr>
        <p:spPr>
          <a:xfrm>
            <a:off x="457200" y="1572768"/>
            <a:ext cx="5486400" cy="45079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5"/>
          <p:cNvSpPr txBox="1"/>
          <p:nvPr/>
        </p:nvSpPr>
        <p:spPr>
          <a:xfrm>
            <a:off x="676656" y="1792224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SCHEMA EXPECTATIONS + FAILURE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"/>
          <p:cNvSpPr txBox="1"/>
          <p:nvPr/>
        </p:nvSpPr>
        <p:spPr>
          <a:xfrm>
            <a:off x="676656" y="2084831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C343A"/>
                </a:solidFill>
                <a:latin typeface="Georgia"/>
                <a:ea typeface="Georgia"/>
                <a:cs typeface="Georgia"/>
                <a:sym typeface="Georgia"/>
              </a:rPr>
              <a:t>Anchor dataset: claim_line_items.csv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5"/>
          <p:cNvSpPr/>
          <p:nvPr/>
        </p:nvSpPr>
        <p:spPr>
          <a:xfrm>
            <a:off x="676656" y="2651760"/>
            <a:ext cx="5029200" cy="1143000"/>
          </a:xfrm>
          <a:prstGeom prst="roundRect">
            <a:avLst>
              <a:gd fmla="val 16667" name="adj"/>
            </a:avLst>
          </a:prstGeom>
          <a:solidFill>
            <a:srgbClr val="E2F2E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5"/>
          <p:cNvSpPr txBox="1"/>
          <p:nvPr/>
        </p:nvSpPr>
        <p:spPr>
          <a:xfrm>
            <a:off x="868680" y="2816352"/>
            <a:ext cx="219456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Schema anchor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5"/>
          <p:cNvSpPr txBox="1"/>
          <p:nvPr/>
        </p:nvSpPr>
        <p:spPr>
          <a:xfrm>
            <a:off x="868680" y="3127248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Schema/version: claim_line_items_schema_v1.0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"/>
          <p:cNvSpPr txBox="1"/>
          <p:nvPr/>
        </p:nvSpPr>
        <p:spPr>
          <a:xfrm>
            <a:off x="868680" y="3392424"/>
            <a:ext cx="4526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PK claim_line_id; FKs claim_id + procedure_code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5"/>
          <p:cNvSpPr txBox="1"/>
          <p:nvPr/>
        </p:nvSpPr>
        <p:spPr>
          <a:xfrm>
            <a:off x="676656" y="4096512"/>
            <a:ext cx="274320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Semantic failure example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5"/>
          <p:cNvSpPr txBox="1"/>
          <p:nvPr/>
        </p:nvSpPr>
        <p:spPr>
          <a:xfrm>
            <a:off x="713232" y="4425696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5"/>
          <p:cNvSpPr txBox="1"/>
          <p:nvPr/>
        </p:nvSpPr>
        <p:spPr>
          <a:xfrm>
            <a:off x="932688" y="4389120"/>
            <a:ext cx="4572000" cy="20926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Contract: billed_amount = total USD line amount (not unit price)</a:t>
            </a:r>
            <a:endParaRPr b="0" i="0" sz="1120" u="none" cap="none" strike="noStrike">
              <a:solidFill>
                <a:srgbClr val="0C34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5"/>
          <p:cNvSpPr txBox="1"/>
          <p:nvPr/>
        </p:nvSpPr>
        <p:spPr>
          <a:xfrm>
            <a:off x="713232" y="4809744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5"/>
          <p:cNvSpPr txBox="1"/>
          <p:nvPr/>
        </p:nvSpPr>
        <p:spPr>
          <a:xfrm>
            <a:off x="932688" y="4773168"/>
            <a:ext cx="4572000" cy="20926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LI-10031: Failure: $3,338.03 becomes per-unit; units = 2</a:t>
            </a:r>
            <a:endParaRPr/>
          </a:p>
        </p:txBody>
      </p:sp>
      <p:sp>
        <p:nvSpPr>
          <p:cNvPr id="278" name="Google Shape;278;p5"/>
          <p:cNvSpPr txBox="1"/>
          <p:nvPr/>
        </p:nvSpPr>
        <p:spPr>
          <a:xfrm>
            <a:off x="713232" y="519379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"/>
          <p:cNvSpPr txBox="1"/>
          <p:nvPr/>
        </p:nvSpPr>
        <p:spPr>
          <a:xfrm>
            <a:off x="932688" y="5157216"/>
            <a:ext cx="4572000" cy="20926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(without contract) AI reports $3,338.03; true total = $6,676.06</a:t>
            </a:r>
            <a:endParaRPr b="0" i="0" sz="1120" u="none" cap="none" strike="noStrike">
              <a:solidFill>
                <a:srgbClr val="0C343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5"/>
          <p:cNvSpPr/>
          <p:nvPr/>
        </p:nvSpPr>
        <p:spPr>
          <a:xfrm>
            <a:off x="6053340" y="1463040"/>
            <a:ext cx="5696700" cy="4761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5"/>
          <p:cNvSpPr txBox="1"/>
          <p:nvPr/>
        </p:nvSpPr>
        <p:spPr>
          <a:xfrm>
            <a:off x="6419088" y="1792224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SEMANTIC CONTRACT + 3 CONTROLS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"/>
          <p:cNvSpPr txBox="1"/>
          <p:nvPr/>
        </p:nvSpPr>
        <p:spPr>
          <a:xfrm>
            <a:off x="6419088" y="2084831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0C343A"/>
                </a:solidFill>
                <a:latin typeface="Georgia"/>
                <a:ea typeface="Georgia"/>
                <a:cs typeface="Georgia"/>
                <a:sym typeface="Georgia"/>
              </a:rPr>
              <a:t>Trust comes from declared meaning plus lineage.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"/>
          <p:cNvSpPr txBox="1"/>
          <p:nvPr/>
        </p:nvSpPr>
        <p:spPr>
          <a:xfrm>
            <a:off x="6419088" y="2679192"/>
            <a:ext cx="2088418" cy="193745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Contract: what AI must preserve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5"/>
          <p:cNvSpPr txBox="1"/>
          <p:nvPr/>
        </p:nvSpPr>
        <p:spPr>
          <a:xfrm>
            <a:off x="6455664" y="299923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"/>
          <p:cNvSpPr txBox="1"/>
          <p:nvPr/>
        </p:nvSpPr>
        <p:spPr>
          <a:xfrm>
            <a:off x="6675120" y="296265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One row = one billed service 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"/>
          <p:cNvSpPr txBox="1"/>
          <p:nvPr/>
        </p:nvSpPr>
        <p:spPr>
          <a:xfrm>
            <a:off x="6455664" y="3364991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"/>
          <p:cNvSpPr txBox="1"/>
          <p:nvPr/>
        </p:nvSpPr>
        <p:spPr>
          <a:xfrm>
            <a:off x="6675120" y="3328416"/>
            <a:ext cx="4572000" cy="20926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service_date = point-in-time (date used for) coverage/policy date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5"/>
          <p:cNvSpPr txBox="1"/>
          <p:nvPr/>
        </p:nvSpPr>
        <p:spPr>
          <a:xfrm>
            <a:off x="6455664" y="3730752"/>
            <a:ext cx="1645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5"/>
          <p:cNvSpPr txBox="1"/>
          <p:nvPr/>
        </p:nvSpPr>
        <p:spPr>
          <a:xfrm>
            <a:off x="6675120" y="3694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"/>
              <a:buFont typeface="Arial"/>
              <a:buNone/>
            </a:pPr>
            <a:r>
              <a:rPr b="0" i="0" lang="en-US" sz="11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amounts are USD line totals; 0.00 can be meaningful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"/>
          <p:cNvSpPr txBox="1"/>
          <p:nvPr/>
        </p:nvSpPr>
        <p:spPr>
          <a:xfrm>
            <a:off x="6419088" y="4019838"/>
            <a:ext cx="2926080" cy="21031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8"/>
              <a:buFont typeface="Arial"/>
              <a:buNone/>
            </a:pPr>
            <a:r>
              <a:rPr b="1" i="0" lang="en-US" sz="1019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3 quality/context controls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"/>
          <p:cNvSpPr/>
          <p:nvPr/>
        </p:nvSpPr>
        <p:spPr>
          <a:xfrm>
            <a:off x="6373368" y="4239668"/>
            <a:ext cx="5038344" cy="1484476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5"/>
          <p:cNvSpPr txBox="1"/>
          <p:nvPr/>
        </p:nvSpPr>
        <p:spPr>
          <a:xfrm>
            <a:off x="6601968" y="4261006"/>
            <a:ext cx="4800600" cy="51703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• grain check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• amount meaning check (line total, not per unit price)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40" u="none" cap="none" strike="noStrike">
                <a:solidFill>
                  <a:srgbClr val="0C343A"/>
                </a:solidFill>
                <a:latin typeface="Consolas"/>
                <a:ea typeface="Consolas"/>
                <a:cs typeface="Consolas"/>
                <a:sym typeface="Consolas"/>
              </a:rPr>
              <a:t>• service-date check (point-in-time)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"/>
          <p:cNvSpPr txBox="1"/>
          <p:nvPr/>
        </p:nvSpPr>
        <p:spPr>
          <a:xfrm>
            <a:off x="6601968" y="4806222"/>
            <a:ext cx="4617720" cy="48318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0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Source of truth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Line amounts </a:t>
            </a:r>
            <a:r>
              <a:rPr b="1" i="0" lang="en-US" sz="80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🡪</a:t>
            </a:r>
            <a:r>
              <a:rPr b="1" i="0" lang="en-US" sz="90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claim_line_items</a:t>
            </a:r>
            <a:endParaRPr b="1" i="0" sz="950" u="none" cap="none" strike="noStrike">
              <a:solidFill>
                <a:srgbClr val="587C8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Claim totals </a:t>
            </a:r>
            <a:r>
              <a:rPr b="1" i="0" lang="en-US" sz="80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🡪</a:t>
            </a:r>
            <a:r>
              <a:rPr b="1" i="0" lang="en-US" sz="90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claims_ledger</a:t>
            </a:r>
            <a:endParaRPr b="1" i="0" sz="9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 txBox="1"/>
          <p:nvPr/>
        </p:nvSpPr>
        <p:spPr>
          <a:xfrm>
            <a:off x="6487668" y="575232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Result: AI receives a line-level record with meaning, timing, and traceability preserved.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"/>
          <p:cNvSpPr txBox="1"/>
          <p:nvPr/>
        </p:nvSpPr>
        <p:spPr>
          <a:xfrm>
            <a:off x="448056" y="6473952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1" lang="en-US" sz="78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Evidence to 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"/>
          <p:cNvSpPr txBox="1"/>
          <p:nvPr/>
        </p:nvSpPr>
        <p:spPr>
          <a:xfrm>
            <a:off x="11201400" y="647395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05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 txBox="1"/>
          <p:nvPr/>
        </p:nvSpPr>
        <p:spPr>
          <a:xfrm>
            <a:off x="1316736" y="6444403"/>
            <a:ext cx="6096000" cy="2123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schema_claim_line_items_v1.csv • data dictionary • linkages.csv</a:t>
            </a:r>
            <a:endParaRPr/>
          </a:p>
        </p:txBody>
      </p:sp>
      <p:sp>
        <p:nvSpPr>
          <p:cNvPr id="298" name="Google Shape;298;p5"/>
          <p:cNvSpPr txBox="1"/>
          <p:nvPr/>
        </p:nvSpPr>
        <p:spPr>
          <a:xfrm>
            <a:off x="6601968" y="5289405"/>
            <a:ext cx="4617720" cy="336989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100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Traceability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carry </a:t>
            </a:r>
            <a:r>
              <a:rPr b="1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claim_line_id + source file + quality_flag </a:t>
            </a:r>
            <a:r>
              <a:rPr b="0" i="0" lang="en-US" sz="950" u="none" cap="none" strike="noStrike">
                <a:solidFill>
                  <a:srgbClr val="587C82"/>
                </a:solidFill>
                <a:latin typeface="Consolas"/>
                <a:ea typeface="Consolas"/>
                <a:cs typeface="Consolas"/>
                <a:sym typeface="Consolas"/>
              </a:rPr>
              <a:t>forward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"/>
          <p:cNvSpPr txBox="1"/>
          <p:nvPr/>
        </p:nvSpPr>
        <p:spPr>
          <a:xfrm>
            <a:off x="685812" y="5540000"/>
            <a:ext cx="5029200" cy="344683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Reason: business meaning changes earlier in the data pipeline, before it reaches the AI 🡪 billed_amount changes from line total to per-unit amount</a:t>
            </a:r>
            <a:endParaRPr b="1" i="0" sz="1000" u="none" cap="none" strike="noStrike">
              <a:solidFill>
                <a:srgbClr val="0C343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AF9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"/>
          <p:cNvSpPr txBox="1"/>
          <p:nvPr/>
        </p:nvSpPr>
        <p:spPr>
          <a:xfrm>
            <a:off x="438912" y="310896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SLIDE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438912" y="658368"/>
            <a:ext cx="111558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0C343A"/>
                </a:solidFill>
                <a:latin typeface="Georgia"/>
                <a:ea typeface="Georgia"/>
                <a:cs typeface="Georgia"/>
                <a:sym typeface="Georgia"/>
              </a:rPr>
              <a:t>Decisions, Tradeoffs &amp; Feedback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438912" y="1133856"/>
            <a:ext cx="109728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The architecture is designed for correct context first, not complexity for its own sake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457200" y="1645920"/>
            <a:ext cx="3520440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 txBox="1"/>
          <p:nvPr/>
        </p:nvSpPr>
        <p:spPr>
          <a:xfrm>
            <a:off x="667512" y="1874519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</a:rPr>
              <a:t>BIGGEST ARCHITECTURAL 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667512" y="2395728"/>
            <a:ext cx="30175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Keep claim-header and service-line grain separate. Join only at a declared grain, then apply point-in-time and jurisdiction filters before decisioning.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/>
          <p:nvPr/>
        </p:nvSpPr>
        <p:spPr>
          <a:xfrm>
            <a:off x="4251960" y="1645920"/>
            <a:ext cx="3520440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4462272" y="1874519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B54343"/>
                </a:solidFill>
                <a:latin typeface="Arial"/>
                <a:ea typeface="Arial"/>
                <a:cs typeface="Arial"/>
                <a:sym typeface="Arial"/>
              </a:rPr>
              <a:t>BIGGEST REMAINING RISK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4462272" y="2395728"/>
            <a:ext cx="30174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A stale, draft, or jurisdictionally wrong policy could still reach retrieval if metadata controls are bypassed or incomplete.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/>
          <p:nvPr/>
        </p:nvSpPr>
        <p:spPr>
          <a:xfrm>
            <a:off x="8046720" y="1645920"/>
            <a:ext cx="3520440" cy="3246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3E3E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8257032" y="1874519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ACCEPTED TRADEOFF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8257032" y="2395728"/>
            <a:ext cx="3017520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20"/>
              <a:buFont typeface="Arial"/>
              <a:buNone/>
            </a:pPr>
            <a:r>
              <a:rPr b="0" i="0" lang="en-US" sz="1220" u="none" cap="none" strike="noStrike">
                <a:solidFill>
                  <a:srgbClr val="0C343A"/>
                </a:solidFill>
                <a:latin typeface="Arial"/>
                <a:ea typeface="Arial"/>
                <a:cs typeface="Arial"/>
                <a:sym typeface="Arial"/>
              </a:rPr>
              <a:t>Use a small synthetic microcosm instead of production-scale data. This keeps the architecture testable while preserving realistic relationships and failure modes.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/>
          <p:nvPr/>
        </p:nvSpPr>
        <p:spPr>
          <a:xfrm>
            <a:off x="457200" y="5148072"/>
            <a:ext cx="11320272" cy="868680"/>
          </a:xfrm>
          <a:prstGeom prst="roundRect">
            <a:avLst>
              <a:gd fmla="val 16667" name="adj"/>
            </a:avLst>
          </a:prstGeom>
          <a:solidFill>
            <a:srgbClr val="0C343A"/>
          </a:solidFill>
          <a:ln cap="flat" cmpd="sng" w="12700">
            <a:solidFill>
              <a:srgbClr val="0C34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6"/>
          <p:cNvSpPr txBox="1"/>
          <p:nvPr/>
        </p:nvSpPr>
        <p:spPr>
          <a:xfrm>
            <a:off x="658368" y="5312664"/>
            <a:ext cx="19202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PEER FEEDBACK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6"/>
          <p:cNvSpPr txBox="1"/>
          <p:nvPr/>
        </p:nvSpPr>
        <p:spPr>
          <a:xfrm>
            <a:off x="2542032" y="5266944"/>
            <a:ext cx="87782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0"/>
              <a:buFont typeface="Arial"/>
              <a:buNone/>
            </a:pPr>
            <a:r>
              <a:rPr b="1" i="0" lang="en-US" sz="124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Is our source-of-truth and point-in-time strategy clear enough to prevent an outdated or draft policy from reaching the AI consumer?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6"/>
          <p:cNvSpPr txBox="1"/>
          <p:nvPr/>
        </p:nvSpPr>
        <p:spPr>
          <a:xfrm>
            <a:off x="658368" y="6144768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b="1" i="0" lang="en-US" sz="819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GitHub: </a:t>
            </a:r>
            <a:r>
              <a:rPr b="0" i="0" lang="en-US" sz="819" u="sng" cap="none" strike="noStrike">
                <a:solidFill>
                  <a:srgbClr val="008B99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https://github.com/Freh-dev/dsba6171-healthtech-domain-project.git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6"/>
          <p:cNvSpPr txBox="1"/>
          <p:nvPr/>
        </p:nvSpPr>
        <p:spPr>
          <a:xfrm>
            <a:off x="448056" y="6473952"/>
            <a:ext cx="8686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1" i="1" lang="en-US" sz="780" u="none" cap="none" strike="noStrike">
                <a:solidFill>
                  <a:srgbClr val="00B5A4"/>
                </a:solidFill>
                <a:latin typeface="Arial"/>
                <a:ea typeface="Arial"/>
                <a:cs typeface="Arial"/>
                <a:sym typeface="Arial"/>
              </a:rPr>
              <a:t>Evidence to open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6"/>
          <p:cNvSpPr txBox="1"/>
          <p:nvPr/>
        </p:nvSpPr>
        <p:spPr>
          <a:xfrm>
            <a:off x="1261872" y="6473952"/>
            <a:ext cx="9509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en-US" sz="78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GitHub repository • architecture decisions • peer-review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6"/>
          <p:cNvSpPr txBox="1"/>
          <p:nvPr/>
        </p:nvSpPr>
        <p:spPr>
          <a:xfrm>
            <a:off x="11201400" y="647395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587C82"/>
                </a:solidFill>
                <a:latin typeface="Arial"/>
                <a:ea typeface="Arial"/>
                <a:cs typeface="Arial"/>
                <a:sym typeface="Arial"/>
              </a:rPr>
              <a:t>06 /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